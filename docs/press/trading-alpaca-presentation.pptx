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ALPACA AI TRADING AGENTS · OPTIONS ALPHA AGENTS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9F4EB"/>
                </a:solidFill>
                <a:latin typeface="Calibri"/>
              </a:rPr>
              <a:t>TRADING ALPACA:</a:t>
            </a:r>
          </a:p>
          <a:p>
            <a:r>
              <a:rPr sz="4000" b="1">
                <a:solidFill>
                  <a:srgbClr val="F9F4EB"/>
                </a:solidFill>
                <a:latin typeface="Calibri"/>
              </a:rPr>
              <a:t>THE OPTIONS DESK</a:t>
            </a:r>
          </a:p>
          <a:p>
            <a:r>
              <a:rPr sz="4000" b="1">
                <a:solidFill>
                  <a:srgbClr val="F9F4EB"/>
                </a:solidFill>
                <a:latin typeface="Calibri"/>
              </a:rPr>
              <a:t>THAT GRADES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5212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Deterministic code builds every trade. A language model may only pick one by id, or refuse.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Two independent vetoes · a fail-closed risk guard · a hash-chained journal · analysts that are Brier-scored and lose their vote when miscalibrated.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Live site: https://trading-alpaca-judge.vercel.app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Judge desk (no credentials needed): https://trading-alpaca-judge.vercel.app/judge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Code: https://github.com/Prashant-thakur77/trading-alpaca</a:t>
            </a:r>
          </a:p>
        </p:txBody>
      </p:sp>
      <p:pic>
        <p:nvPicPr>
          <p:cNvPr id="5" name="Picture 4" descr="site-hero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57400"/>
            <a:ext cx="5516575" cy="17280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THE PROBLEM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MOST AGENTS ASK A MODEL WHAT TO BUY.</a:t>
            </a:r>
          </a:p>
          <a:p>
            <a:r>
              <a:rPr sz="2800" b="1">
                <a:solidFill>
                  <a:srgbClr val="F9F4EB"/>
                </a:solidFill>
                <a:latin typeface="Calibri"/>
              </a:rPr>
              <a:t>THIS ONE NEVER LETS IT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5212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Asking an LLM "what should I trade?" is fast to build and impossible to trust.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It can hallucinate a strike, size a position wrongly, or be confidently wrong with no record of why.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So this desk hands the model a numbered menu it did not write. It may return one id, or the word ABSTAIN.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A hallucinated id is treated as an abstention. There is no code path by which a model can invent a strike, change a quantity, or move a price.</a:t>
            </a:r>
          </a:p>
        </p:txBody>
      </p:sp>
      <p:pic>
        <p:nvPicPr>
          <p:cNvPr id="5" name="Picture 4" descr="site-inve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57400"/>
            <a:ext cx="5516575" cy="1216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HOW IT WORKS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SIX STAGES. FOUR OF THEM CAN SAY 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057400"/>
            <a:ext cx="1719529" cy="3108960"/>
          </a:xfrm>
          <a:prstGeom prst="rect">
            <a:avLst/>
          </a:prstGeom>
          <a:solidFill>
            <a:srgbClr val="0B0C0C"/>
          </a:solidFill>
          <a:ln>
            <a:solidFill>
              <a:srgbClr val="33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148840"/>
            <a:ext cx="15000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423160"/>
            <a:ext cx="15000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F4EB"/>
                </a:solidFill>
                <a:latin typeface="Calibri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926080"/>
            <a:ext cx="150007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4AC"/>
                </a:solidFill>
                <a:latin typeface="Calibri"/>
              </a:rPr>
              <a:t>code enumerates every legal defined-risk structure from the live chain, fully priced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1049" y="2057400"/>
            <a:ext cx="1719529" cy="3108960"/>
          </a:xfrm>
          <a:prstGeom prst="rect">
            <a:avLst/>
          </a:prstGeom>
          <a:solidFill>
            <a:srgbClr val="0B0C0C"/>
          </a:solidFill>
          <a:ln>
            <a:solidFill>
              <a:srgbClr val="33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777" y="2148840"/>
            <a:ext cx="15000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777" y="2423160"/>
            <a:ext cx="15000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75D60"/>
                </a:solidFill>
                <a:latin typeface="Calibri"/>
              </a:rPr>
              <a:t>ARGUE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777" y="2926080"/>
            <a:ext cx="150007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4AC"/>
                </a:solidFill>
                <a:latin typeface="Calibri"/>
              </a:rPr>
              <a:t>a vol analyst and a bear adversary each return a probability; a trader picks an id or ABSTAINs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738" y="2057400"/>
            <a:ext cx="1719529" cy="3108960"/>
          </a:xfrm>
          <a:prstGeom prst="rect">
            <a:avLst/>
          </a:prstGeom>
          <a:solidFill>
            <a:srgbClr val="0B0C0C"/>
          </a:solidFill>
          <a:ln>
            <a:solidFill>
              <a:srgbClr val="33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7466" y="2148840"/>
            <a:ext cx="15000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7466" y="2423160"/>
            <a:ext cx="15000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75D60"/>
                </a:solidFill>
                <a:latin typeface="Calibri"/>
              </a:rPr>
              <a:t>VETO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7466" y="2926080"/>
            <a:ext cx="150007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4AC"/>
                </a:solidFill>
                <a:latin typeface="Calibri"/>
              </a:rPr>
              <a:t>a pure-code thesis check, then a blind LLM review that never sees the committee's reasoning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2057400"/>
            <a:ext cx="1719529" cy="3108960"/>
          </a:xfrm>
          <a:prstGeom prst="rect">
            <a:avLst/>
          </a:prstGeom>
          <a:solidFill>
            <a:srgbClr val="0B0C0C"/>
          </a:solidFill>
          <a:ln>
            <a:solidFill>
              <a:srgbClr val="33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4155" y="2148840"/>
            <a:ext cx="15000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4155" y="2423160"/>
            <a:ext cx="15000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75D60"/>
                </a:solidFill>
                <a:latin typeface="Calibri"/>
              </a:rPr>
              <a:t>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4155" y="2926080"/>
            <a:ext cx="150007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4AC"/>
                </a:solidFill>
                <a:latin typeface="Calibri"/>
              </a:rPr>
              <a:t>RiskGuard enforces risk.yaml: ALLOW / DENY / DOWNSIZE, fail-closed on any error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1116" y="2057400"/>
            <a:ext cx="1719529" cy="3108960"/>
          </a:xfrm>
          <a:prstGeom prst="rect">
            <a:avLst/>
          </a:prstGeom>
          <a:solidFill>
            <a:srgbClr val="0B0C0C"/>
          </a:solidFill>
          <a:ln>
            <a:solidFill>
              <a:srgbClr val="33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0844" y="2148840"/>
            <a:ext cx="15000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0844" y="2423160"/>
            <a:ext cx="15000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9F4EB"/>
                </a:solidFill>
                <a:latin typeface="Calibri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0844" y="2926080"/>
            <a:ext cx="150007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4AC"/>
                </a:solidFill>
                <a:latin typeface="Calibri"/>
              </a:rPr>
              <a:t>one atomic multi-leg order via the Alpaca CLI; a pre-mortem compiles exit triggers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7805" y="2057400"/>
            <a:ext cx="1719529" cy="3108960"/>
          </a:xfrm>
          <a:prstGeom prst="rect">
            <a:avLst/>
          </a:prstGeom>
          <a:solidFill>
            <a:srgbClr val="0B0C0C"/>
          </a:solidFill>
          <a:ln>
            <a:solidFill>
              <a:srgbClr val="33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7533" y="2148840"/>
            <a:ext cx="15000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7533" y="2423160"/>
            <a:ext cx="150007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75D60"/>
                </a:solidFill>
                <a:latin typeface="Calibri"/>
              </a:rPr>
              <a:t>GRADE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7533" y="2926080"/>
            <a:ext cx="150007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8B4AC"/>
                </a:solidFill>
                <a:latin typeface="Calibri"/>
              </a:rPr>
              <a:t>closes resolve each analyst's predictions; Brier scores recompute their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10865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4AC"/>
                </a:solidFill>
                <a:latin typeface="Calibri"/>
              </a:rPr>
              <a:t>Every stage appends to a hash-chained journal. Every refusal is recorded with its reason.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897880"/>
            <a:ext cx="27432" cy="548640"/>
          </a:xfrm>
          <a:prstGeom prst="rect">
            <a:avLst/>
          </a:prstGeom>
          <a:solidFill>
            <a:srgbClr val="E75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STAGE 1 · BUILD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EVERY CANDIDATE IS FULLY SPECIFIED</a:t>
            </a:r>
          </a:p>
          <a:p>
            <a:r>
              <a:rPr sz="2800" b="1">
                <a:solidFill>
                  <a:srgbClr val="F9F4EB"/>
                </a:solidFill>
                <a:latin typeface="Calibri"/>
              </a:rPr>
              <a:t>BEFORE ANY MODEL IS CALLED.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5212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Python reads the live SPY option chain and constructs every legal defined-risk structure: bull put, bear call, bull call and bear put spreads, iron condors, long straddles and butterflies.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Each has strikes, legs, quantity, limit price, max loss and breakeven fixed by code.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Liquidity gates first: open interest ≥ 100, quote width ≤ 10% of mid, 7–45 days to expiry.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A live cycle reads ~3,700 contracts, ~1,100 pass liquidity, ~600–1,800 structures are built, 12 are shown to the committee.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There is no function in the codebase that produces a naked short option.</a:t>
            </a:r>
          </a:p>
        </p:txBody>
      </p:sp>
      <p:pic>
        <p:nvPicPr>
          <p:cNvPr id="5" name="Picture 4" descr="judge-cands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57400"/>
            <a:ext cx="5516575" cy="38045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STAGE 2 · ARGUE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PROBABILITIES, NOT VERDICTS.</a:t>
            </a:r>
          </a:p>
          <a:p>
            <a:r>
              <a:rPr sz="2800" b="1">
                <a:solidFill>
                  <a:srgbClr val="F9F4EB"/>
                </a:solidFill>
                <a:latin typeface="Calibri"/>
              </a:rPr>
              <a:t>AN ADVERSARY ARGUES AGAINST EVERY TRADE.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10029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E75D60"/>
                </a:solidFill>
              </a:rPr>
              <a:t>→ </a:t>
            </a:r>
            <a:r>
              <a:rPr sz="1200">
                <a:solidFill>
                  <a:srgbClr val="B8B4AC"/>
                </a:solidFill>
                <a:latin typeface="Calibri"/>
              </a:rPr>
              <a:t>vol_analyst judges implied vs realized volatility; bear_adversary's only job is to find what breaks the trade. Each returns a probability, and an abstaining analyst is excluded from both numerator and denominator.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E75D60"/>
                </a:solidFill>
              </a:rPr>
              <a:t>→ </a:t>
            </a:r>
            <a:r>
              <a:rPr sz="1200">
                <a:solidFill>
                  <a:srgbClr val="B8B4AC"/>
                </a:solidFill>
                <a:latin typeface="Calibri"/>
              </a:rPr>
              <a:t>The trader picks one id or ABSTAINs. In this live cycle it moved from c1 to c2 because the adversary flagged c1's at-the-money short strike — the objection changed the trade, and is journalled either way.</a:t>
            </a:r>
          </a:p>
        </p:txBody>
      </p:sp>
      <p:pic>
        <p:nvPicPr>
          <p:cNvPr id="5" name="Picture 4" descr="term-committ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262" y="3886200"/>
            <a:ext cx="625117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STAGE 3 · VETO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TWO REVIEWERS WITH DECORRELATED FAILURE MODES.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5212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Two calls to the same model on the same context agree with each other and prove nothing.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Gate 1 is pure code: do the position's Greeks match the structure's own directional thesis? Unmeasurable Greeks fail closed.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Gate 2 is an LLM deliberately starved of the committee's reasoning, shown only the trade's own facts.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Live on Thursday: a candidate passed the thesis check and was vetoed by the blind review — "requires conviction SPY won't rally 1.4% over 44 days." The desk abstained.</a:t>
            </a:r>
          </a:p>
        </p:txBody>
      </p:sp>
      <p:pic>
        <p:nvPicPr>
          <p:cNvPr id="5" name="Picture 4" descr="judge-failclose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57400"/>
            <a:ext cx="5516575" cy="21876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STAGE 4 · GUARD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RISK.YAML IS THE SINGLE SOURCE OF TRUTH.</a:t>
            </a:r>
          </a:p>
          <a:p>
            <a:r>
              <a:rPr sz="2800" b="1">
                <a:solidFill>
                  <a:srgbClr val="F9F4EB"/>
                </a:solidFill>
                <a:latin typeface="Calibri"/>
              </a:rPr>
              <a:t>THE GUARD FAILS CLOSED.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057400"/>
          <a:ext cx="1100297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Limit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Max loss per position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$1,000 (1% of equity)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Concurrent positions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New trades per underlying per day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Net delta / net vega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|Δ| ≤ 30 · |ν| ≤ 200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Days to expiry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7 – 45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Liquidity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OI ≥ 100 · spread ≤ 10% of mid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Daily loss halt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2% of equity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After 3 consecutive losers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size halved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Any error, missing data, or exception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DENY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97880"/>
            <a:ext cx="10865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4AC"/>
                </a:solidFill>
                <a:latin typeface="Calibri"/>
              </a:rPr>
              <a:t>Verified by 933 tests, including mutation tests that prove a guard exception denies rather than trades. A kill-switch file halts everything within a minute.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897880"/>
            <a:ext cx="27432" cy="548640"/>
          </a:xfrm>
          <a:prstGeom prst="rect">
            <a:avLst/>
          </a:prstGeom>
          <a:solidFill>
            <a:srgbClr val="E75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STAGE 5 · EXECUTE AND EXIT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IT MANAGES THE BOOK BEFORE IT ADDS TO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10029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E75D60"/>
                </a:solidFill>
              </a:rPr>
              <a:t>→ </a:t>
            </a:r>
            <a:r>
              <a:rPr sz="1200">
                <a:solidFill>
                  <a:srgbClr val="B8B4AC"/>
                </a:solidFill>
                <a:latin typeface="Calibri"/>
              </a:rPr>
              <a:t>Orders are one atomic multi-leg limit through the official Alpaca CLI. Live fills came in at better than their limits ($2.35 vs $1.94, $1.48 vs $1.22).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E75D60"/>
                </a:solidFill>
              </a:rPr>
              <a:t>→ </a:t>
            </a:r>
            <a:r>
              <a:rPr sz="1200">
                <a:solidFill>
                  <a:srgbClr val="B8B4AC"/>
                </a:solidFill>
                <a:latin typeface="Calibri"/>
              </a:rPr>
              <a:t>Before the trade is sent, a pre-mortem asks the model how it fails, then compiles those failure modes into deterministic exit triggers.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E75D60"/>
                </a:solidFill>
              </a:rPr>
              <a:t>→ </a:t>
            </a:r>
            <a:r>
              <a:rPr sz="1200">
                <a:solidFill>
                  <a:srgbClr val="B8B4AC"/>
                </a:solidFill>
                <a:latin typeface="Calibri"/>
              </a:rPr>
              <a:t>Three exits apply to every position regardless of any model: 50% of credit captured, max loss, and a forced close at 3 DTE.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E75D60"/>
                </a:solidFill>
              </a:rPr>
              <a:t>→ </a:t>
            </a:r>
            <a:r>
              <a:rPr sz="1200">
                <a:solidFill>
                  <a:srgbClr val="B8B4AC"/>
                </a:solidFill>
                <a:latin typeface="Calibri"/>
              </a:rPr>
              <a:t>Thursday: the breakeven trigger set at entry fired at 772.42 and the desk closed the spread itself at −$70.50, before the loss could grow toward its $352 max.</a:t>
            </a:r>
          </a:p>
        </p:txBody>
      </p:sp>
      <p:pic>
        <p:nvPicPr>
          <p:cNvPr id="5" name="Picture 4" descr="term-clos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312" y="3886200"/>
            <a:ext cx="8969071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STAGE 6 · GRADE ITSELF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AN ANALYST THAT IS CONFIDENTLY WRONG LOSES ITS VOTE.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057400"/>
          <a:ext cx="11002975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95"/>
                <a:gridCol w="2200595"/>
                <a:gridCol w="2200595"/>
                <a:gridCol w="2200595"/>
                <a:gridCol w="2200595"/>
              </a:tblGrid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Analyst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Resolved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Brier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Weight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Interpretation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9F4EB"/>
                          </a:solidFill>
                          <a:latin typeface="Consolas"/>
                        </a:rPr>
                        <a:t>vol_analyst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beats the 0.25 always-0.5 baseline — upweighted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9F4EB"/>
                          </a:solidFill>
                          <a:latin typeface="Consolas"/>
                        </a:rPr>
                        <a:t>bear_adversary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0.298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worse than baseline — down-weighted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97880"/>
            <a:ext cx="10865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4AC"/>
                </a:solidFill>
                <a:latin typeface="Calibri"/>
              </a:rPr>
              <a:t>Closes resolve the probabilities each analyst gave; Brier scores recompute weights every cycle and feed the next aggregate. Twelve resolved trades is a small sample and is stated as one — the loop is the point, not the 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897880"/>
            <a:ext cx="27432" cy="548640"/>
          </a:xfrm>
          <a:prstGeom prst="rect">
            <a:avLst/>
          </a:prstGeom>
          <a:solidFill>
            <a:srgbClr val="E75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REFUSAL IS THE PRODUCT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OVER 43 REPLAYED DECISIONS,</a:t>
            </a:r>
          </a:p>
          <a:p>
            <a:r>
              <a:rPr sz="2800" b="1">
                <a:solidFill>
                  <a:srgbClr val="F9F4EB"/>
                </a:solidFill>
                <a:latin typeface="Calibri"/>
              </a:rPr>
              <a:t>IT REFUSED 72% OF THE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5212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The real committee replayed over 43 post-knowledge-cutoff windows: 31 refusals, 12 executable trades.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Every refusal gave a reason. The reasons are what matter: after the structure menu was fixed, zero refusals cited a missing structure; seven of eight were the two reviewers failing to agree.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Replayed at $0.00: every LLM call is content-addressed and cached with its prompt, raw response and parse.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This is not timidity. A desk that cannot say no cannot be trusted when it says yes.</a:t>
            </a:r>
          </a:p>
        </p:txBody>
      </p:sp>
      <p:pic>
        <p:nvPicPr>
          <p:cNvPr id="5" name="Picture 4" descr="site-refus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57400"/>
            <a:ext cx="5516575" cy="22309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ANALYTICS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THE VOLATILITY SMILE — AND ITS NOISE FLOOR.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5212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A cubic fitted per expiry on ln(K/S)/√T across the liquid strikes only; 14 of 17 liquid groups fit.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A strike is coloured only if its distance from the curve exceeds its own bid-ask spread. Everything grey scores exactly zero.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We measured it, and deliberately did not let it pick strikes: the median deviation is worth about $3.94 per contract against a $4.00 quoted spread.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E75D60"/>
                </a:solidFill>
              </a:rPr>
              <a:t>→ </a:t>
            </a:r>
            <a:r>
              <a:rPr sz="1250">
                <a:solidFill>
                  <a:srgbClr val="B8B4AC"/>
                </a:solidFill>
                <a:latin typeface="Calibri"/>
              </a:rPr>
              <a:t>Measurement is not edge, and the desk knows the difference.</a:t>
            </a:r>
          </a:p>
        </p:txBody>
      </p:sp>
      <p:pic>
        <p:nvPicPr>
          <p:cNvPr id="5" name="Picture 4" descr="smil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463" y="2057400"/>
            <a:ext cx="4773168" cy="3977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LIVE · OFFICIAL MEASUREMENT WINDOW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WHAT ACTUALLY HAPPENED.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057400"/>
          <a:ext cx="11002975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329184">
                <a:tc>
                  <a:txBody>
                    <a:bodyPr/>
                    <a:lstStyle/>
                    <a:p/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6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Account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PA3JR0GVVEN0 — new, dedicated, paper, created 2026-08-29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Opening equity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$100,000.00, flat until the window opened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Closing equity (Thu 3 Sep EOD)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$99,827.64   (−0.17%)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Fills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3, all inside the window, each at better than its limit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Closes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1, automated, on its own breakeven trigger (−$70.50)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Guard refusals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per-day cap, position cap, no-stacking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Positions corrupted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9F4EB"/>
                          </a:solidFill>
                          <a:latin typeface="Consolas"/>
                        </a:rPr>
                        <a:t>Every trade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8B4AC"/>
                          </a:solidFill>
                          <a:latin typeface="Calibri"/>
                        </a:rPr>
                        <a:t>a defined-risk bear call spread, 1 contract, inside its $1,000 cap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97880"/>
            <a:ext cx="10865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4AC"/>
                </a:solidFill>
                <a:latin typeface="Calibri"/>
              </a:rPr>
              <a:t>Judged on total equity, this is flat. Three bear call spreads were one directional view expressed three times, and SPY rallied. We state that rather than hide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897880"/>
            <a:ext cx="27432" cy="548640"/>
          </a:xfrm>
          <a:prstGeom prst="rect">
            <a:avLst/>
          </a:prstGeom>
          <a:solidFill>
            <a:srgbClr val="E75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FOUND BY RUNNING, NOT BY READING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FOUR BUGS, ALL WHILE THE TEST SUITE WAS GREEN.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057400"/>
          <a:ext cx="110029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743"/>
                <a:gridCol w="2750743"/>
                <a:gridCol w="2750743"/>
                <a:gridCol w="2750746"/>
              </a:tblGrid>
              <a:tr h="32918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Day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Bug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What it cost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8A8780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>
                    <a:solidFill>
                      <a:srgbClr val="16181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9F4EB"/>
                          </a:solidFill>
                          <a:latin typeface="Consolas"/>
                        </a:rPr>
                        <a:t>Mon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Skill leak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the host's plugin told analysts to look for skills first → silent abstain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--setting-sources "" isolates the model call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9F4EB"/>
                          </a:solidFill>
                          <a:latin typeface="Consolas"/>
                        </a:rPr>
                        <a:t>Mon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Unfillable limit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mid-priced order rested 55 min, blocked every later cycle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20% marketable concession at the one live pricing site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9F4EB"/>
                          </a:solidFill>
                          <a:latin typeface="Consolas"/>
                        </a:rPr>
                        <a:t>Tue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Trailing comma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a valid, reasoned trade decision discarded over one character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string-aware JSON repair, fail-closed otherwise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9F4EB"/>
                          </a:solidFill>
                          <a:latin typeface="Consolas"/>
                        </a:rPr>
                        <a:t>Thu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Leg collision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new spread sold a contract already held long → broker rejected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8B4AC"/>
                          </a:solidFill>
                          <a:latin typeface="Calibri"/>
                        </a:rPr>
                        <a:t>filter candidates against current holdings</a:t>
                      </a:r>
                    </a:p>
                  </a:txBody>
                  <a:tcPr>
                    <a:solidFill>
                      <a:srgbClr val="0B0C0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97880"/>
            <a:ext cx="10865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4AC"/>
                </a:solidFill>
                <a:latin typeface="Calibri"/>
              </a:rPr>
              <a:t>Each was root-caused from the journal and prompt cache, fixed with a regression test, and shipped mid-session. That is the argument for the journal.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897880"/>
            <a:ext cx="27432" cy="548640"/>
          </a:xfrm>
          <a:prstGeom prst="rect">
            <a:avLst/>
          </a:prstGeom>
          <a:solidFill>
            <a:srgbClr val="E75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WHAT THIS DOES NOT CLAIM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STATED LIMITS, NOT OMITTED 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11002975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E75D60"/>
                </a:solidFill>
              </a:rPr>
              <a:t>→ </a:t>
            </a:r>
            <a:r>
              <a:rPr sz="1400">
                <a:solidFill>
                  <a:srgbClr val="B8B4AC"/>
                </a:solidFill>
                <a:latin typeface="Calibri"/>
              </a:rPr>
              <a:t>One closed trade and two open ones prove nothing statistically, and we do not imply otherwise.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5D60"/>
                </a:solidFill>
              </a:rPr>
              <a:t>→ </a:t>
            </a:r>
            <a:r>
              <a:rPr sz="1400">
                <a:solidFill>
                  <a:srgbClr val="B8B4AC"/>
                </a:solidFill>
                <a:latin typeface="Calibri"/>
              </a:rPr>
              <a:t>Paper fills are simulated against live quotes. No counterparty took the other side.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5D60"/>
                </a:solidFill>
              </a:rPr>
              <a:t>→ </a:t>
            </a:r>
            <a:r>
              <a:rPr sz="1400">
                <a:solidFill>
                  <a:srgbClr val="B8B4AC"/>
                </a:solidFill>
                <a:latin typeface="Calibri"/>
              </a:rPr>
              <a:t>The desk used ~25% of its own risk budget: candidates are built at 1 contract and the guard only ever downsizes. Known, documented, unchanged during scoring.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5D60"/>
                </a:solidFill>
              </a:rPr>
              <a:t>→ </a:t>
            </a:r>
            <a:r>
              <a:rPr sz="1400">
                <a:solidFill>
                  <a:srgbClr val="B8B4AC"/>
                </a:solidFill>
                <a:latin typeface="Calibri"/>
              </a:rPr>
              <a:t>Walk-forward backtests (13 windows, 90-day fit / 30-day test) are labelled as backtests; AAPL loses (PF 0.83) and the report says so.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E75D60"/>
                </a:solidFill>
              </a:rPr>
              <a:t>→ </a:t>
            </a:r>
            <a:r>
              <a:rPr sz="1400">
                <a:solidFill>
                  <a:srgbClr val="B8B4AC"/>
                </a:solidFill>
                <a:latin typeface="Calibri"/>
              </a:rPr>
              <a:t>The previous author's hardcoded performance claims were deleted, not adapted.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80"/>
                </a:solidFill>
                <a:latin typeface="Consolas"/>
              </a:rPr>
              <a:t>[ TRY IT YOURSELF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9F4EB"/>
                </a:solidFill>
                <a:latin typeface="Calibri"/>
              </a:rPr>
              <a:t>EVERYTHING HERE IS VERIFIABLE WITHOUT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574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9F4EB"/>
                </a:solidFill>
                <a:latin typeface="Calibri"/>
              </a:rPr>
              <a:t>Live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0FF7E"/>
                </a:solidFill>
                <a:latin typeface="Consolas"/>
              </a:rPr>
              <a:t>https://trading-alpaca-judge.vercel.app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1576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9F4EB"/>
                </a:solidFill>
                <a:latin typeface="Calibri"/>
              </a:rPr>
              <a:t>Judge desk — replay four real decisions, two of them refusals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9008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0FF7E"/>
                </a:solidFill>
                <a:latin typeface="Consolas"/>
              </a:rPr>
              <a:t>https://trading-alpaca-judge.vercel.app/judge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74136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9F4EB"/>
                </a:solidFill>
                <a:latin typeface="Calibri"/>
              </a:rPr>
              <a:t>Volatility smile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48456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0FF7E"/>
                </a:solidFill>
                <a:latin typeface="Consolas"/>
              </a:rPr>
              <a:t>https://trading-alpaca-judge.vercel.app/smile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3250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9F4EB"/>
                </a:solidFill>
                <a:latin typeface="Calibri"/>
              </a:rPr>
              <a:t>Source, tests, journal, and every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06824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0FF7E"/>
                </a:solidFill>
                <a:latin typeface="Consolas"/>
              </a:rPr>
              <a:t>https://github.com/Prashant-thakur77/trading-alpaca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9087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9F4EB"/>
                </a:solidFill>
                <a:latin typeface="Calibri"/>
              </a:rPr>
              <a:t>Demo video (4:22)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6519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0FF7E"/>
                </a:solidFill>
                <a:latin typeface="Consolas"/>
              </a:rPr>
              <a:t>https://github.com/Prashant-thakur77/trading-alpaca/raw/main/docs/press/demo.mp4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574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4AC"/>
                </a:solidFill>
                <a:latin typeface="Consolas"/>
              </a:rPr>
              <a:t>git clone https://github.com/Prashant-thakur77/trading-alpaca</a:t>
            </a:r>
          </a:p>
          <a:p>
            <a:r>
              <a:rPr sz="1000" b="0">
                <a:solidFill>
                  <a:srgbClr val="B8B4AC"/>
                </a:solidFill>
                <a:latin typeface="Consolas"/>
              </a:rPr>
              <a:t>cd trading-alpaca &amp;&amp; make install</a:t>
            </a:r>
          </a:p>
          <a:p>
            <a:r>
              <a:rPr sz="1000" b="0">
                <a:solidFill>
                  <a:srgbClr val="B8B4AC"/>
                </a:solidFill>
                <a:latin typeface="Consolas"/>
              </a:rPr>
              <a:t>make test            # 933 tests, offline</a:t>
            </a:r>
          </a:p>
          <a:p>
            <a:r>
              <a:rPr sz="1000" b="0">
                <a:solidFill>
                  <a:srgbClr val="B8B4AC"/>
                </a:solidFill>
                <a:latin typeface="Consolas"/>
              </a:rPr>
              <a:t>make judge           # 4 judge scenarios, no keys</a:t>
            </a:r>
          </a:p>
          <a:p>
            <a:r>
              <a:rPr sz="1000" b="0">
                <a:solidFill>
                  <a:srgbClr val="B8B4AC"/>
                </a:solidFill>
                <a:latin typeface="Consolas"/>
              </a:rPr>
              <a:t>make verify-journal  # hash chain intact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8658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B4AC"/>
                </a:solidFill>
                <a:latin typeface="Calibri"/>
              </a:rPr>
              <a:t>Compliance: orders route through the official Alpaca CLI; market data through the official Alpaca MCP server with read-only toolsets (no trading toolset is exposed, so an LLM cannot place an order through it). alpaca-py is used for analysis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897880"/>
            <a:ext cx="27432" cy="548640"/>
          </a:xfrm>
          <a:prstGeom prst="rect">
            <a:avLst/>
          </a:prstGeom>
          <a:solidFill>
            <a:srgbClr val="E75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A8780"/>
                </a:solidFill>
                <a:latin typeface="Consolas"/>
              </a:rPr>
              <a:t>trading-alpaca · paper account only · trading-alpaca-judge.vercel.app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780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